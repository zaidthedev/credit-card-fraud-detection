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Default Extension="png" ContentType="image/png"/>
  <Default Extension="jpg" ContentType="image/jpe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Glyphless"/>
      <p:regular r:id="rId1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theme" Target="theme/theme1.xml"/><Relationship Id="rId16" Type="http://schemas.openxmlformats.org/officeDocument/2006/relationships/presProps" Target="presProps.xml"/><Relationship Id="rId17" Type="http://schemas.openxmlformats.org/officeDocument/2006/relationships/font" Target="fonts/font0.fntdata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jp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812800" y="827659"/>
            <a:ext cx="1420326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192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Case study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12800" y="2242439"/>
            <a:ext cx="4287354" cy="10668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6000" spc="354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Credit Card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12800" y="3042539"/>
            <a:ext cx="5945088" cy="10668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6000" spc="44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Fraud Detection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12800" y="4177792"/>
            <a:ext cx="8462711" cy="3911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200" spc="141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Predicting fraudulent transactions from 594,643 card payments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12800" y="5775706"/>
            <a:ext cx="2743866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99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Zaid Mustafa ·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812800" y="774954"/>
            <a:ext cx="5703877" cy="640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3600" spc="224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The problem: fraud is rare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12800" y="2596388"/>
            <a:ext cx="1781073" cy="10668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6000" spc="466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1.2%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12800" y="3558159"/>
            <a:ext cx="3928941" cy="3911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200" spc="122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of transactions are fraudulent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12800" y="4034536"/>
            <a:ext cx="4105321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98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7,200 frauds in 594,643 transactions, from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777892" y="4034536"/>
            <a:ext cx="121920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12800" y="4319016"/>
            <a:ext cx="3637864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79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4,112 customers, 50 merchants and 15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322160" y="4319016"/>
            <a:ext cx="121920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12800" y="4603369"/>
            <a:ext cx="1995968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99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purchase categories.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400800" y="2909189"/>
            <a:ext cx="2551153" cy="3911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200" spc="177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Why accuracy fails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400800" y="3395726"/>
            <a:ext cx="4149801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A model that always answers “not fraud” is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400800" y="3680079"/>
            <a:ext cx="1577453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158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98.8% accurate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47406" y="3680079"/>
            <a:ext cx="1257216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96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 and catches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179941" y="3680079"/>
            <a:ext cx="1040384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86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zero fraud.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400800" y="4091559"/>
            <a:ext cx="4704469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87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So the model must be judged on how well it finds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953874" y="4091559"/>
            <a:ext cx="121920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400800" y="4376039"/>
            <a:ext cx="1967731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89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the rare fraud cases.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12800" y="6248908"/>
            <a:ext cx="2318056" cy="2133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200" spc="69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Credit Card Fraud Detection ·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812800" y="774954"/>
            <a:ext cx="8541808" cy="640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3600" spc="271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Preprocessing: clean before modelling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47420" y="1769999"/>
            <a:ext cx="1242290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87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What I found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113530" y="1769999"/>
            <a:ext cx="976492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8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What I did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90714" y="1769999"/>
            <a:ext cx="430984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113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Why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47420" y="2209419"/>
            <a:ext cx="1412576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105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Missing values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113530" y="2209419"/>
            <a:ext cx="1120632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92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None found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90714" y="2209419"/>
            <a:ext cx="3255931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9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Checked every column; nothing to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624105" y="2209419"/>
            <a:ext cx="121920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90714" y="2493772"/>
            <a:ext cx="670640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86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impute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7420" y="2933192"/>
            <a:ext cx="2783520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83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Text stored with quote marks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113530" y="2933192"/>
            <a:ext cx="1906855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96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Stripped the quotes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90714" y="2933192"/>
            <a:ext cx="2785554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89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Clean labels like M, es_travel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7420" y="3372485"/>
            <a:ext cx="2154092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94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Both zip code columns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113530" y="3372485"/>
            <a:ext cx="828241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99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Dropped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490714" y="3372485"/>
            <a:ext cx="3066378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76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One single value: no information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7420" y="3811778"/>
            <a:ext cx="2144909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87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Age, gender, category,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992488" y="3811778"/>
            <a:ext cx="121920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47420" y="4096258"/>
            <a:ext cx="916918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98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merchant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113530" y="3811778"/>
            <a:ext cx="1659183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94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One-hot encoded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490714" y="3811778"/>
            <a:ext cx="3648944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89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Models only read numbers; categories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009440" y="3811778"/>
            <a:ext cx="121920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490714" y="4096258"/>
            <a:ext cx="1300946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7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have no order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47420" y="4535551"/>
            <a:ext cx="2506390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7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Customer ID (4,112 values)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113530" y="4535551"/>
            <a:ext cx="1644595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94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Not used directly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490714" y="4535551"/>
            <a:ext cx="3142278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97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Replaced by customer behaviour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512788" y="4535551"/>
            <a:ext cx="121920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490714" y="4820031"/>
            <a:ext cx="809127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105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features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12800" y="6248908"/>
            <a:ext cx="2322406" cy="2133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200" spc="7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Credit Card Fraud Detection ·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812800" y="774954"/>
            <a:ext cx="9081008" cy="640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3600" spc="243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Fraud is concentrated in a few categories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80909" y="2690749"/>
            <a:ext cx="1715414" cy="3911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200" spc="17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Leisure 95%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80909" y="3026029"/>
            <a:ext cx="1538961" cy="3911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200" spc="145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Travel 79%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780909" y="3361182"/>
            <a:ext cx="2554363" cy="3911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200" spc="205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Sports &amp; toys 50%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780909" y="3923919"/>
            <a:ext cx="3400544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102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Transportation, food and contents: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053925" y="3923919"/>
            <a:ext cx="121920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780909" y="4208399"/>
            <a:ext cx="1059477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99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zero fraud.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819515" y="4208399"/>
            <a:ext cx="2240636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79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 Transportation alone is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957773" y="4208399"/>
            <a:ext cx="121920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780909" y="4492752"/>
            <a:ext cx="2272972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103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85% of all transactions.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12800" y="6248908"/>
            <a:ext cx="2322864" cy="2133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200" spc="7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Credit Card Fraud Detection ·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812800" y="774954"/>
            <a:ext cx="8732281" cy="640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3600" spc="246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Fraud transactions are about 12× larger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58459" y="2680589"/>
            <a:ext cx="2716960" cy="3911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20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Median €319 vs €27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958459" y="3243326"/>
            <a:ext cx="4948471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79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The fraud box (1) sits far above normal spending (0).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958459" y="3730879"/>
            <a:ext cx="3399838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The highest legit amount is €2,145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291701" y="3730879"/>
            <a:ext cx="2021270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83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, so everything above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15380" y="3730879"/>
            <a:ext cx="121920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958459" y="4015359"/>
            <a:ext cx="952756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7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it is fraud.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958459" y="4503039"/>
            <a:ext cx="4114415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77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Outliers were kept: here they are the fraud.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12800" y="6248908"/>
            <a:ext cx="2325153" cy="2133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200" spc="71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Credit Card Fraud Detection ·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812800" y="774954"/>
            <a:ext cx="7854033" cy="640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3600" spc="247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Age, gender and time barely matter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58459" y="3771138"/>
            <a:ext cx="1485064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131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Demographics: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14387" y="3771138"/>
            <a:ext cx="3241282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97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 every group sits between 0% and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533467" y="3771138"/>
            <a:ext cx="121920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58459" y="4055618"/>
            <a:ext cx="1056873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66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2.1% fraud.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958459" y="4517771"/>
            <a:ext cx="4479861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93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Time: exactly 40 frauds per step, so the data is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91652" y="4517771"/>
            <a:ext cx="121920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958459" y="4802251"/>
            <a:ext cx="1558467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88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likely simulated.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12800" y="6248908"/>
            <a:ext cx="2321261" cy="2133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200" spc="7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Credit Card Fraud Detection ·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812800" y="774954"/>
            <a:ext cx="4498414" cy="640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3600" spc="277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Feature engineering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17600" y="1966722"/>
            <a:ext cx="1554270" cy="3911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200" spc="138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Hour of day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7600" y="2453259"/>
            <a:ext cx="1646371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102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step % 24, as the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673618" y="2453259"/>
            <a:ext cx="121920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17600" y="2737739"/>
            <a:ext cx="1429516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111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brief suggests.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17600" y="3149092"/>
            <a:ext cx="723989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112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Tested: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27403" y="3149092"/>
            <a:ext cx="1590851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81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 fraud rate is flat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326589" y="3149092"/>
            <a:ext cx="121920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17600" y="3433572"/>
            <a:ext cx="2261910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88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at about 1.2% across all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277393" y="3433572"/>
            <a:ext cx="121920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17600" y="3717925"/>
            <a:ext cx="2373933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89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24 hours. No signal; kept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386491" y="3717925"/>
            <a:ext cx="121920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17600" y="4002405"/>
            <a:ext cx="1289146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75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and reported.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707509" y="1966722"/>
            <a:ext cx="1599989" cy="3911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200" spc="171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Log amount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707509" y="2453259"/>
            <a:ext cx="2291096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Amounts run from €0 to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893921" y="2453259"/>
            <a:ext cx="121920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07509" y="2737739"/>
            <a:ext cx="2259609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€8,330; skewness 32.4.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707509" y="3149092"/>
            <a:ext cx="2115451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73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log(1 + amount) brings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724008" y="3149092"/>
            <a:ext cx="121920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707509" y="3433572"/>
            <a:ext cx="2788791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skewness to −0.4 for Logistic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382417" y="3433572"/>
            <a:ext cx="121920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707509" y="3717925"/>
            <a:ext cx="1122781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108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Regression.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297291" y="1966722"/>
            <a:ext cx="2249406" cy="3911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200" spc="18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Customer habits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297291" y="2453259"/>
            <a:ext cx="2675821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89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Usual spend, this amount vs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862585" y="2453259"/>
            <a:ext cx="121920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297291" y="2737739"/>
            <a:ext cx="2016741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85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usual, and number of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215976" y="2737739"/>
            <a:ext cx="121920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297291" y="3022092"/>
            <a:ext cx="1237956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9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transactions.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297291" y="3433572"/>
            <a:ext cx="2086783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128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Most unusual 20% of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282250" y="3433572"/>
            <a:ext cx="121920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 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297291" y="3717925"/>
            <a:ext cx="2179015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116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purchases: 4.1% fraud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433558" y="3717925"/>
            <a:ext cx="304346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6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, vs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678627" y="3717925"/>
            <a:ext cx="121920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 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297291" y="4002405"/>
            <a:ext cx="2272144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88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about 0.5% for the rest.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12800" y="4947158"/>
            <a:ext cx="804695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16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Scaling: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601724" y="4947158"/>
            <a:ext cx="9076550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92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 StandardScaler on numeric features, fitted on training data only (used by Logistic Regression).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12800" y="6248908"/>
            <a:ext cx="2315995" cy="2133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200" spc="68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Credit Card Fraud Detection ·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812800" y="774954"/>
            <a:ext cx="6522698" cy="640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3600" spc="237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Models and evaluation metric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17600" y="1966722"/>
            <a:ext cx="1851538" cy="3911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200" spc="173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Three models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7600" y="2504059"/>
            <a:ext cx="1939304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142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Logistic Regression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958299" y="2504059"/>
            <a:ext cx="121920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17600" y="2788539"/>
            <a:ext cx="2879691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91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Simple, interpretable baseline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17600" y="3250692"/>
            <a:ext cx="1501811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131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Random Forest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530565" y="3250692"/>
            <a:ext cx="121920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17600" y="3535172"/>
            <a:ext cx="4311514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82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Finds combinations, e.g. travel + high amount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17600" y="3997325"/>
            <a:ext cx="875008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171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XGBoost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15860" y="3997325"/>
            <a:ext cx="121920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17600" y="4281805"/>
            <a:ext cx="3975109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86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Usually strongest on tabular data; built-in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954971" y="4281805"/>
            <a:ext cx="121920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17600" y="4566158"/>
            <a:ext cx="1884679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104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imbalance handling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502400" y="1966722"/>
            <a:ext cx="2839632" cy="3911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200" spc="163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Main metric: PR-AUC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502400" y="2504059"/>
            <a:ext cx="3562148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94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Accuracy is misleading at 1.2% fraud.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502400" y="2966339"/>
            <a:ext cx="4419564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95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ROC-AUC is about 0.998 for every model, so it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777353" y="2966339"/>
            <a:ext cx="121920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502400" y="3250692"/>
            <a:ext cx="2180477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81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cannot tell them apart.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502400" y="3712972"/>
            <a:ext cx="4611642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94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PR-AUC focuses on the fraud class. F1, precision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966506" y="3712972"/>
            <a:ext cx="121920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502400" y="3997325"/>
            <a:ext cx="2690625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84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and recall are also reported.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12800" y="5572506"/>
            <a:ext cx="533961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141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Split: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36294" y="5572506"/>
            <a:ext cx="8180387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81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 80% train / 20% test, stratified, so both keep 1.2% fraud (1,440 frauds in the test set).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12800" y="6248908"/>
            <a:ext cx="2325153" cy="2133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200" spc="71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Credit Card Fraud Detection ·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812800" y="774954"/>
            <a:ext cx="6917832" cy="640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3600" spc="276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Handling imbalance and tuning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17600" y="1915922"/>
            <a:ext cx="1888235" cy="3911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200" spc="205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Class weights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7600" y="2402459"/>
            <a:ext cx="4379056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101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Each missed fraud costs the model about 82×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351964" y="2402459"/>
            <a:ext cx="121920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17600" y="2686939"/>
            <a:ext cx="3455602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78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more during training. Real data only.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17600" y="3098292"/>
            <a:ext cx="2308751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145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XGBoost PR-AUC 0.931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502400" y="1915922"/>
            <a:ext cx="1032774" cy="3911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200" spc="264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SMOTE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502400" y="2402459"/>
            <a:ext cx="4604826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98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Synthetic frauds until classes are equal, applied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957515" y="2402459"/>
            <a:ext cx="121920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02400" y="2686939"/>
            <a:ext cx="1956373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69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to training data only.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502400" y="3098292"/>
            <a:ext cx="2353455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162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XGBoost PR-AUC 0.928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12800" y="3992372"/>
            <a:ext cx="2172452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123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Choice: class weights.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42717" y="3992372"/>
            <a:ext cx="5016963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78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 Same ranking quality, simpler, and no invented data.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12800" y="4581525"/>
            <a:ext cx="726755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109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Tuning: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25270" y="4581525"/>
            <a:ext cx="9245701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92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 RandomizedSearchCV, 10 combinations × 3-fold CV, scored on PR-AUC. Best: 600 trees, depth 6,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532510" y="4581525"/>
            <a:ext cx="121920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12800" y="4866005"/>
            <a:ext cx="3212279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81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learning rate 0.1, subsample 0.85.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12800" y="6248908"/>
            <a:ext cx="2321491" cy="2133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200" spc="7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Credit Card Fraud Detection ·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812800" y="774954"/>
            <a:ext cx="4975284" cy="640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3600" spc="26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Results on the test set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32180" y="1704975"/>
            <a:ext cx="536055" cy="2489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0" spc="9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Model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049776" y="1704975"/>
            <a:ext cx="680053" cy="2489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0" spc="147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PR-AUC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957191" y="1704975"/>
            <a:ext cx="830976" cy="2489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0" spc="157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ROC-AUC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160135" y="1704975"/>
            <a:ext cx="788169" cy="2489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0" spc="102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Precision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356094" y="1704975"/>
            <a:ext cx="537058" cy="2489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0" spc="131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Recall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95030" y="1704975"/>
            <a:ext cx="236616" cy="2489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F1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277096" y="1704975"/>
            <a:ext cx="622988" cy="2489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0" spc="132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Caught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192004" y="1704975"/>
            <a:ext cx="1089276" cy="2489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0" spc="116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False alarms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32180" y="2090928"/>
            <a:ext cx="1648947" cy="2489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0" spc="104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Logistic Regression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165346" y="2090928"/>
            <a:ext cx="562200" cy="2489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0" spc="168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0.853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220716" y="2090928"/>
            <a:ext cx="562200" cy="2489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0" spc="168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0.998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506083" y="2090928"/>
            <a:ext cx="435325" cy="2489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0" spc="168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0.31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55916" y="2090928"/>
            <a:ext cx="435325" cy="2489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0" spc="168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0.98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300212" y="2090928"/>
            <a:ext cx="435325" cy="2489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0" spc="168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0.47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336659" y="2090928"/>
            <a:ext cx="562199" cy="2489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0" spc="168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1,416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708640" y="2090928"/>
            <a:ext cx="562199" cy="2489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0" spc="168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3,130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32180" y="2476881"/>
            <a:ext cx="1276843" cy="2489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0" spc="92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Random Forest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165346" y="2476881"/>
            <a:ext cx="562200" cy="2489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0" spc="168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0.915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220716" y="2476881"/>
            <a:ext cx="562200" cy="2489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0" spc="168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0.998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506083" y="2476881"/>
            <a:ext cx="435325" cy="2489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0" spc="168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0.51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455916" y="2476881"/>
            <a:ext cx="435325" cy="2489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0" spc="168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0.97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300212" y="2476881"/>
            <a:ext cx="435325" cy="2489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0" spc="168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0.66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336659" y="2476881"/>
            <a:ext cx="562199" cy="2489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0" spc="168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1,390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708640" y="2476881"/>
            <a:ext cx="562199" cy="2489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0" spc="168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1,354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32180" y="2862834"/>
            <a:ext cx="1557591" cy="2489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0" spc="92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XGBoost (weights)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165346" y="2862834"/>
            <a:ext cx="562200" cy="2489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0" spc="168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0.931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220716" y="2862834"/>
            <a:ext cx="562200" cy="2489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0" spc="168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0.998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506083" y="2862834"/>
            <a:ext cx="435325" cy="2489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0" spc="168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0.48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455916" y="2862834"/>
            <a:ext cx="435325" cy="2489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0" spc="168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0.97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300212" y="2862834"/>
            <a:ext cx="435325" cy="2489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0" spc="168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0.65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336659" y="2862834"/>
            <a:ext cx="562199" cy="2489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0" spc="168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1,391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708640" y="2862834"/>
            <a:ext cx="562199" cy="2489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0" spc="168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1,481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32180" y="3248787"/>
            <a:ext cx="1533563" cy="2489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0" spc="112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XGBoost (SMOTE)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165346" y="3248787"/>
            <a:ext cx="562200" cy="2489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0" spc="168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0.928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220716" y="3248787"/>
            <a:ext cx="562200" cy="2489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0" spc="168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0.998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506083" y="3248787"/>
            <a:ext cx="435325" cy="2489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0" spc="168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0.80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455916" y="3248787"/>
            <a:ext cx="435325" cy="2489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0" spc="168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0.88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300212" y="3248787"/>
            <a:ext cx="435325" cy="2489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0" spc="168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0.84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336659" y="3248787"/>
            <a:ext cx="562199" cy="2489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0" spc="168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1,270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886440" y="3248787"/>
            <a:ext cx="380850" cy="2489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0" spc="168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320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32180" y="3634740"/>
            <a:ext cx="1904430" cy="2489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XGBoost (tuned) – final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165346" y="3634740"/>
            <a:ext cx="562200" cy="2489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0" spc="168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0.930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220716" y="3634740"/>
            <a:ext cx="562200" cy="2489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0" spc="168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0.998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506083" y="3634740"/>
            <a:ext cx="435325" cy="2489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0" spc="168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0.70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455916" y="3634740"/>
            <a:ext cx="435325" cy="2489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0" spc="168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0.92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300212" y="3634740"/>
            <a:ext cx="435325" cy="2489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0" spc="168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0.79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336659" y="3634740"/>
            <a:ext cx="562199" cy="2489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0" spc="168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1,324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0886440" y="3634740"/>
            <a:ext cx="380850" cy="2489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400" spc="168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578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12800" y="4268724"/>
            <a:ext cx="2813676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118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Final model: tuned XGBoost.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3571240" y="4268724"/>
            <a:ext cx="7771043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86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 Catches 92% of fraud (1,324 of 1,440); 70% of its alerts are real fraud. Tuning cut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1131646" y="4268724"/>
            <a:ext cx="121920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 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812800" y="4553077"/>
            <a:ext cx="2951777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82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false alarms from 1,481 to 578.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812800" y="6248908"/>
            <a:ext cx="6049697" cy="2133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200" spc="61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Credit Card Fraud Detection · 10 · Precision, recall and F1 at the default 0.5 threshold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812800" y="774954"/>
            <a:ext cx="7484570" cy="640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360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What drives the model’s decisions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193409" y="2512949"/>
            <a:ext cx="3862975" cy="3911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200" spc="145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Category, then amount, then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897568" y="2512949"/>
            <a:ext cx="167640" cy="3911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20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193409" y="2848229"/>
            <a:ext cx="2199716" cy="3911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200" spc="17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customer habits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193409" y="3410966"/>
            <a:ext cx="4016036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9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Transportation (0% fraud) is the strongest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071380" y="3410966"/>
            <a:ext cx="121920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193409" y="3695319"/>
            <a:ext cx="1259325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106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single signal.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193409" y="4182999"/>
            <a:ext cx="3592799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9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A few specific merchants also matter.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93409" y="4670552"/>
            <a:ext cx="4399727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83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Age and gender are not in the top 11 features.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12800" y="6248908"/>
            <a:ext cx="7591414" cy="2133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200" spc="68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Credit Card Fraud Detection · 11 · SHAP on XGBoost (class weights, before tuning), 3,000 test transactions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812800" y="774954"/>
            <a:ext cx="4134685" cy="640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3600" spc="298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Recommendations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12800" y="1691513"/>
            <a:ext cx="167640" cy="3911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20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47800" y="1766697"/>
            <a:ext cx="3964350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11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Add verification for high-risk categories.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334381" y="1766697"/>
            <a:ext cx="6134341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83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 SMS or in-app confirmation for leisure, travel, sports &amp; toys and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89454" y="1766697"/>
            <a:ext cx="121920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47800" y="2051050"/>
            <a:ext cx="3495239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86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hotel purchases above a set amount.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12800" y="2569464"/>
            <a:ext cx="181017" cy="3911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20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47800" y="2644521"/>
            <a:ext cx="10057278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Flag purchases far above a customer’s usual spend. A strong signal that is easy to explain to customers.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12800" y="3189224"/>
            <a:ext cx="189526" cy="3911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20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47800" y="3264281"/>
            <a:ext cx="3161129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115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Review the high-risk merchants.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546981" y="3264281"/>
            <a:ext cx="6187157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87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 20 of 50 merchants have zero fraud, while a few rank among the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554253" y="3264281"/>
            <a:ext cx="121920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47800" y="3548634"/>
            <a:ext cx="1856295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model’s top drivers.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12800" y="4067048"/>
            <a:ext cx="186959" cy="3911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20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47800" y="4142105"/>
            <a:ext cx="4384215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97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Keep low friction on transportation and food.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745988" y="4142105"/>
            <a:ext cx="4294765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87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 Zero fraud there, so extra checks would only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897877" y="4142105"/>
            <a:ext cx="121920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47800" y="4426585"/>
            <a:ext cx="1686108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91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annoy customers.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12800" y="4944999"/>
            <a:ext cx="192426" cy="3911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20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5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47800" y="5020056"/>
            <a:ext cx="3916315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11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Score every transaction with the model.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287391" y="5020056"/>
            <a:ext cx="4645929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97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 High scores trigger verification; low scores pass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783039" y="5020056"/>
            <a:ext cx="121920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47800" y="5304409"/>
            <a:ext cx="1612413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87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straight through.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12800" y="6248908"/>
            <a:ext cx="2286233" cy="2133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200" spc="61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Credit Card Fraud Detection ·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812800" y="774954"/>
            <a:ext cx="5848056" cy="640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3600" spc="263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Limitations and next steps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17600" y="1966722"/>
            <a:ext cx="1524031" cy="3911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200" spc="169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Limitations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7600" y="2504059"/>
            <a:ext cx="4385151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92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The data looks simulated: exactly 40 frauds in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357854" y="2504059"/>
            <a:ext cx="121920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17600" y="2788539"/>
            <a:ext cx="1526358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8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every time step.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17600" y="3250692"/>
            <a:ext cx="4106607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9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The model knows merchants by name; new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085647" y="3250692"/>
            <a:ext cx="121920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17600" y="3535172"/>
            <a:ext cx="2584021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86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merchants need retraining.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17600" y="3997325"/>
            <a:ext cx="4643711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92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Customer averages use all transactions, not only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11718" y="3997325"/>
            <a:ext cx="121920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17600" y="4281805"/>
            <a:ext cx="971521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86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past ones.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502400" y="1966722"/>
            <a:ext cx="1469469" cy="3911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2200" spc="193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Next steps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502400" y="2504059"/>
            <a:ext cx="3153916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8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Validate on real transaction data.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502400" y="2966339"/>
            <a:ext cx="4611572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Tune the 0.5 decision threshold using the bank’s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965868" y="2966339"/>
            <a:ext cx="121920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502400" y="3250692"/>
            <a:ext cx="4136986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91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real cost of a missed fraud vs a false alarm.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502400" y="3712972"/>
            <a:ext cx="4104645" cy="2844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600" spc="92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Retrain regularly as fraud patterns change.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12800" y="6248908"/>
            <a:ext cx="2291499" cy="2133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/>
            <a:r>
              <a:rPr lang="en-US" sz="1200" spc="62" dirty="0">
                <a:solidFill>
                  <a:srgbClr val="000000">
                    <a:alpha val="0"/>
                  </a:srgbClr>
                </a:solidFill>
                <a:latin typeface="Glyphless"/>
                <a:cs typeface="Glyphless"/>
              </a:rPr>
              <a:t>Credit Card Fraud Detection ·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